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35" r:id="rId5"/>
    <p:sldId id="337" r:id="rId6"/>
    <p:sldId id="336" r:id="rId7"/>
    <p:sldId id="339" r:id="rId8"/>
    <p:sldId id="340" r:id="rId9"/>
    <p:sldId id="341" r:id="rId10"/>
    <p:sldId id="348" r:id="rId11"/>
    <p:sldId id="349" r:id="rId12"/>
    <p:sldId id="350" r:id="rId13"/>
    <p:sldId id="351" r:id="rId14"/>
    <p:sldId id="34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67" autoAdjust="0"/>
    <p:restoredTop sz="95394" autoAdjust="0"/>
  </p:normalViewPr>
  <p:slideViewPr>
    <p:cSldViewPr snapToGrid="0">
      <p:cViewPr varScale="1">
        <p:scale>
          <a:sx n="72" d="100"/>
          <a:sy n="72" d="100"/>
        </p:scale>
        <p:origin x="1023" y="33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11/24/2024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11/24/2024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om.com/share/9fe04f1628a14a7b9c6785054fa4cb5b?sid=c138275b-07a4-4a79-bdff-ab52961f1287" TargetMode="External"/><Relationship Id="rId2" Type="http://schemas.openxmlformats.org/officeDocument/2006/relationships/hyperlink" Target="https://colab.research.google.com/drive/1fN-FB9z4sg5jJIhI0HOXPEkQzmhCH64M?usp=sharing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iptyajitdas.carrd.c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4205445" cy="13987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E-COMMERCE Price Optimization</a:t>
            </a:r>
            <a:endParaRPr lang="en-US" sz="1100" b="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5408F-C5F1-18BE-8ADE-CD36241058F9}"/>
              </a:ext>
            </a:extLst>
          </p:cNvPr>
          <p:cNvSpPr txBox="1"/>
          <p:nvPr/>
        </p:nvSpPr>
        <p:spPr>
          <a:xfrm>
            <a:off x="8309113" y="4823791"/>
            <a:ext cx="2120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MS Gothic" panose="020B0609070205080204" pitchFamily="49" charset="-128"/>
                <a:ea typeface="MS Gothic" panose="020B0609070205080204" pitchFamily="49" charset="-128"/>
              </a:rPr>
              <a:t>by</a:t>
            </a:r>
            <a:r>
              <a:rPr lang="en-US" sz="14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en-US" sz="1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Diptyajit Das</a:t>
            </a:r>
            <a:endParaRPr lang="en-IN" sz="14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518470" cy="2388837"/>
          </a:xfrm>
        </p:spPr>
        <p:txBody>
          <a:bodyPr/>
          <a:lstStyle/>
          <a:p>
            <a:br>
              <a:rPr lang="en-US" dirty="0"/>
            </a:b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HOW MUCH IS MORE?</a:t>
            </a:r>
          </a:p>
        </p:txBody>
      </p:sp>
      <p:pic>
        <p:nvPicPr>
          <p:cNvPr id="10" name="Picture Placeholder 9" descr="Businessman looking at tablet">
            <a:extLst>
              <a:ext uri="{FF2B5EF4-FFF2-40B4-BE49-F238E27FC236}">
                <a16:creationId xmlns:a16="http://schemas.microsoft.com/office/drawing/2014/main" id="{0E7DFFA9-9901-3CE7-AAC2-C1754C65B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875" r="26875"/>
          <a:stretch/>
        </p:blipFill>
        <p:spPr>
          <a:xfrm>
            <a:off x="7625969" y="-9144"/>
            <a:ext cx="4581525" cy="6602413"/>
          </a:xfrm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sz="3200" dirty="0">
                <a:latin typeface="MS Gothic" panose="020B0609070205080204" pitchFamily="49" charset="-128"/>
                <a:ea typeface="MS Gothic" panose="020B0609070205080204" pitchFamily="49" charset="-128"/>
              </a:rPr>
              <a:t>Agenda</a:t>
            </a:r>
            <a:r>
              <a:rPr lang="en-US" dirty="0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Introduction</a:t>
            </a:r>
          </a:p>
          <a:p>
            <a:r>
              <a:rPr lang="en-IN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Exploratory Data Analysis </a:t>
            </a:r>
          </a:p>
          <a:p>
            <a:r>
              <a:rPr 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Machine Learning</a:t>
            </a:r>
          </a:p>
          <a:p>
            <a:r>
              <a:rPr 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>
            <a:normAutofit/>
          </a:bodyPr>
          <a:lstStyle/>
          <a:p>
            <a:r>
              <a:rPr lang="en-ZA" sz="3200" dirty="0">
                <a:latin typeface="MS Gothic" panose="020B0609070205080204" pitchFamily="49" charset="-128"/>
                <a:ea typeface="MS Gothic" panose="020B0609070205080204" pitchFamily="49" charset="-128"/>
              </a:rPr>
              <a:t>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>
            <a:normAutofit fontScale="70000" lnSpcReduction="20000"/>
          </a:bodyPr>
          <a:lstStyle/>
          <a:p>
            <a:r>
              <a:rPr kumimoji="0" lang="en-US" altLang="en-US" sz="3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Price optimization</a:t>
            </a:r>
            <a:r>
              <a:rPr kumimoji="0" lang="en-US" altLang="en-US" sz="3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 aims to find the ideal balance between pricing and customer demand to maximize revenue and sales volume.</a:t>
            </a:r>
          </a:p>
          <a:p>
            <a:r>
              <a:rPr kumimoji="0" lang="en-US" altLang="en-US" sz="3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S Gothic" panose="020B0609070205080204" pitchFamily="49" charset="-128"/>
                <a:ea typeface="MS Gothic" panose="020B0609070205080204" pitchFamily="49" charset="-128"/>
              </a:rPr>
              <a:t>This approach leverages data-driven strategies to set competitive prices that attract customers while ensuring profitability. </a:t>
            </a:r>
          </a:p>
          <a:p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The goal is to enhance sales and customer satisfaction through smart, balanced pricing techniques, supported by </a:t>
            </a:r>
            <a:r>
              <a:rPr lang="en-US" sz="31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EDA, time series analysis, and ML regression models</a:t>
            </a:r>
            <a:r>
              <a:rPr lang="en-US" sz="3100" dirty="0">
                <a:latin typeface="MS Gothic" panose="020B0609070205080204" pitchFamily="49" charset="-128"/>
                <a:ea typeface="MS Gothic" panose="020B0609070205080204" pitchFamily="49" charset="-128"/>
              </a:rPr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0974" y="1543878"/>
            <a:ext cx="3743738" cy="1663147"/>
          </a:xfrm>
        </p:spPr>
        <p:txBody>
          <a:bodyPr/>
          <a:lstStyle/>
          <a:p>
            <a:r>
              <a:rPr lang="en-ZA" dirty="0">
                <a:latin typeface="MS Gothic" panose="020B0609070205080204" pitchFamily="49" charset="-128"/>
                <a:ea typeface="MS Gothic" panose="020B0609070205080204" pitchFamily="49" charset="-128"/>
              </a:rPr>
              <a:t>EXPLORATORY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>
            <a:normAutofit/>
          </a:bodyPr>
          <a:lstStyle/>
          <a:p>
            <a:r>
              <a:rPr lang="en-ZA" sz="3200" dirty="0">
                <a:latin typeface="MS Gothic" panose="020B0609070205080204" pitchFamily="49" charset="-128"/>
                <a:ea typeface="MS Gothic" panose="020B0609070205080204" pitchFamily="49" charset="-128"/>
              </a:rPr>
              <a:t>KEY FINDINGS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685402" cy="3936586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Correlations</a:t>
            </a: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: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Positive: freight_price &amp; weight, total_price &amp; quantity</a:t>
            </a:r>
          </a:p>
          <a:p>
            <a:pPr marL="342900" indent="-342900">
              <a:buFontTx/>
              <a:buChar char="-"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Negative: weekday &amp; weekend counts</a:t>
            </a:r>
          </a:p>
          <a:p>
            <a:r>
              <a:rPr 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Popular categories and products[</a:t>
            </a:r>
            <a:r>
              <a:rPr lang="en-US" sz="1600" dirty="0">
                <a:latin typeface="MS Gothic" panose="020B0609070205080204" pitchFamily="49" charset="-128"/>
                <a:ea typeface="MS Gothic" panose="020B0609070205080204" pitchFamily="49" charset="-128"/>
              </a:rPr>
              <a:t>Revenue wise</a:t>
            </a:r>
            <a:r>
              <a:rPr lang="en-US" sz="2400" dirty="0">
                <a:latin typeface="MS Gothic" panose="020B0609070205080204" pitchFamily="49" charset="-128"/>
                <a:ea typeface="MS Gothic" panose="020B0609070205080204" pitchFamily="49" charset="-128"/>
              </a:rPr>
              <a:t>]</a:t>
            </a: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: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</a:t>
            </a:r>
            <a:r>
              <a:rPr lang="en-US" b="1" dirty="0">
                <a:latin typeface="MS Gothic" panose="020B0609070205080204" pitchFamily="49" charset="-128"/>
                <a:ea typeface="MS Gothic" panose="020B0609070205080204" pitchFamily="49" charset="-128"/>
              </a:rPr>
              <a:t>health_beauty</a:t>
            </a: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b="1" dirty="0">
                <a:latin typeface="MS Gothic" panose="020B0609070205080204" pitchFamily="49" charset="-128"/>
                <a:ea typeface="MS Gothic" panose="020B0609070205080204" pitchFamily="49" charset="-128"/>
              </a:rPr>
              <a:t>watches_gifts</a:t>
            </a: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b="1" dirty="0">
                <a:latin typeface="MS Gothic" panose="020B0609070205080204" pitchFamily="49" charset="-128"/>
                <a:ea typeface="MS Gothic" panose="020B0609070205080204" pitchFamily="49" charset="-128"/>
              </a:rPr>
              <a:t>garden_tools,`computer_accessories`.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Popular products: </a:t>
            </a:r>
            <a:r>
              <a:rPr lang="en-US" b="1" dirty="0">
                <a:latin typeface="MS Gothic" panose="020B0609070205080204" pitchFamily="49" charset="-128"/>
                <a:ea typeface="MS Gothic" panose="020B0609070205080204" pitchFamily="49" charset="-128"/>
              </a:rPr>
              <a:t>health5</a:t>
            </a: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b="1" dirty="0">
                <a:latin typeface="MS Gothic" panose="020B0609070205080204" pitchFamily="49" charset="-128"/>
                <a:ea typeface="MS Gothic" panose="020B0609070205080204" pitchFamily="49" charset="-128"/>
              </a:rPr>
              <a:t>health2</a:t>
            </a: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b="1" dirty="0">
                <a:latin typeface="MS Gothic" panose="020B0609070205080204" pitchFamily="49" charset="-128"/>
                <a:ea typeface="MS Gothic" panose="020B0609070205080204" pitchFamily="49" charset="-128"/>
              </a:rPr>
              <a:t>bed2</a:t>
            </a: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, </a:t>
            </a:r>
            <a:r>
              <a:rPr lang="en-US" b="1" dirty="0">
                <a:latin typeface="MS Gothic" panose="020B0609070205080204" pitchFamily="49" charset="-128"/>
                <a:ea typeface="MS Gothic" panose="020B0609070205080204" pitchFamily="49" charset="-128"/>
              </a:rPr>
              <a:t>health7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Revenue peak in November 2017.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unit_price higher than competitor prices.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270039-AA2D-06C0-9838-540A4CF53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535" y="3581400"/>
            <a:ext cx="3896327" cy="2922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438F2D-CD74-4A57-DB0B-BFED24729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918" y="138779"/>
            <a:ext cx="5186117" cy="336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42355-336D-0463-2CA3-CC32919C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2FFA-C415-6729-17F8-83546565D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>
            <a:normAutofit/>
          </a:bodyPr>
          <a:lstStyle/>
          <a:p>
            <a:r>
              <a:rPr lang="en-ZA" sz="3200" dirty="0">
                <a:latin typeface="MS Gothic" panose="020B0609070205080204" pitchFamily="49" charset="-128"/>
                <a:ea typeface="MS Gothic" panose="020B0609070205080204" pitchFamily="49" charset="-128"/>
              </a:rPr>
              <a:t>KEY FINDINGS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E3E5D-D7A4-7487-EDB2-70847155CD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685402" cy="393658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Stable Metrics: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freight_price and qty consistent over time.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Mean Comparisons: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No significant differences in weekday, weekend, and holiday counts.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Price Strategy:</a:t>
            </a:r>
          </a:p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unit_price close to lag_price, potential for pricing adjustments.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17A5EA-35A7-7D8B-DC43-B55CAEAE2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907" y="3301090"/>
            <a:ext cx="4173505" cy="2655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DC5FA4-3E1C-B4FF-DE4D-51B22BF49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363" y="559905"/>
            <a:ext cx="4238267" cy="265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021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25B84-5C96-9F86-747F-2569CD5D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79CA-DEF7-CD91-77F1-50BE01717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0974" y="1543878"/>
            <a:ext cx="3743738" cy="1663147"/>
          </a:xfrm>
        </p:spPr>
        <p:txBody>
          <a:bodyPr>
            <a:normAutofit/>
          </a:bodyPr>
          <a:lstStyle/>
          <a:p>
            <a:r>
              <a:rPr lang="en-ZA" dirty="0">
                <a:latin typeface="MS Gothic" panose="020B0609070205080204" pitchFamily="49" charset="-128"/>
                <a:ea typeface="MS Gothic" panose="020B0609070205080204" pitchFamily="49" charset="-128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931905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B644D-B16C-DD6F-351E-71371AD5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43C5-ACA1-95B1-B334-70014EF09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MS Gothic" panose="020B0609070205080204" pitchFamily="49" charset="-128"/>
                <a:ea typeface="MS Gothic" panose="020B0609070205080204" pitchFamily="49" charset="-128"/>
              </a:rPr>
              <a:t>Model Insights &amp; Performance</a:t>
            </a:r>
            <a:endParaRPr lang="en-ZA" sz="32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55DE5-481A-7E4D-6F55-8247ED843F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Models Used: </a:t>
            </a:r>
          </a:p>
          <a:p>
            <a:pPr marL="0" indent="0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xgboost Regression models for predicting total_price, qty, and unit_price.</a:t>
            </a:r>
          </a:p>
          <a:p>
            <a:pPr marL="0" indent="0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Prophet library utilized to predict metrics product, category level.</a:t>
            </a:r>
          </a:p>
          <a:p>
            <a:pPr marL="0" indent="0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Performance Metrics:</a:t>
            </a:r>
          </a:p>
          <a:p>
            <a:pPr marL="0" indent="0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Quantity: R² = 0.89, RMSE = 3.85</a:t>
            </a:r>
          </a:p>
          <a:p>
            <a:pPr marL="0" indent="0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Total Price: R² = 0.998, RMSE = 63.98</a:t>
            </a:r>
          </a:p>
          <a:p>
            <a:pPr marL="0" indent="0">
              <a:buNone/>
            </a:pPr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- Unit Price: R² = 0.84, RMSE = 28.01</a:t>
            </a:r>
          </a:p>
          <a:p>
            <a:endParaRPr lang="en-US" sz="31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033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FC6A4-4694-8BBE-9172-67AB7A944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68A3E-D07E-F976-2540-E7BBF9FD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>
            <a:normAutofit/>
          </a:bodyPr>
          <a:lstStyle/>
          <a:p>
            <a:r>
              <a:rPr lang="en-ZA" sz="3200" dirty="0">
                <a:latin typeface="MS Gothic" panose="020B0609070205080204" pitchFamily="49" charset="-128"/>
                <a:ea typeface="MS Gothic" panose="020B0609070205080204" pitchFamily="49" charset="-128"/>
              </a:rPr>
              <a:t>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85515-FEC0-C725-2E09-416ACCBB03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9265656" cy="420889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1. </a:t>
            </a:r>
            <a:r>
              <a:rPr lang="en-US" sz="50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Implement targeted discount strategies </a:t>
            </a: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: for popular products to attract more customers and increase revenue. </a:t>
            </a:r>
          </a:p>
          <a:p>
            <a:pPr marL="0" indent="0">
              <a:buNone/>
            </a:pP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2. </a:t>
            </a:r>
            <a:r>
              <a:rPr lang="en-US" sz="50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Focus marketing efforts </a:t>
            </a: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: on high-revenue categories and products (e.g., `health_beauty` and products like `health5`). </a:t>
            </a:r>
          </a:p>
          <a:p>
            <a:pPr marL="0" indent="0">
              <a:buNone/>
            </a:pP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3</a:t>
            </a:r>
            <a:r>
              <a:rPr lang="en-US" sz="50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. Monitor competitive pricing </a:t>
            </a: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and adjust `unit_price` to stay competitive while maintaining profitability. </a:t>
            </a:r>
          </a:p>
          <a:p>
            <a:pPr marL="0" indent="0">
              <a:buNone/>
            </a:pP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4. </a:t>
            </a:r>
            <a:r>
              <a:rPr lang="en-US" sz="50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Leverage the predictive models </a:t>
            </a: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to forecast `total_price`, `qty`, and `unit_price` for various scenarios to plan pricing and inventory effectively. </a:t>
            </a:r>
          </a:p>
          <a:p>
            <a:pPr marL="0" indent="0">
              <a:buNone/>
            </a:pP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5. </a:t>
            </a:r>
            <a:r>
              <a:rPr lang="en-US" sz="50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Continue evaluating and refining </a:t>
            </a:r>
            <a:r>
              <a:rPr lang="en-US" sz="5000" dirty="0">
                <a:latin typeface="MS Gothic" panose="020B0609070205080204" pitchFamily="49" charset="-128"/>
                <a:ea typeface="MS Gothic" panose="020B0609070205080204" pitchFamily="49" charset="-128"/>
              </a:rPr>
              <a:t>models against baselines to ensure sustained accuracy and performance. </a:t>
            </a:r>
          </a:p>
          <a:p>
            <a:pPr marL="0" indent="0">
              <a:buNone/>
            </a:pPr>
            <a:endParaRPr lang="en-US" sz="3100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096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>
                <a:latin typeface="MS Gothic" panose="020B0609070205080204" pitchFamily="49" charset="-128"/>
                <a:ea typeface="MS Gothic" panose="020B0609070205080204" pitchFamily="49" charset="-128"/>
              </a:rPr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r>
              <a:rPr lang="en-US" sz="1800" b="1" dirty="0">
                <a:latin typeface="MS Gothic" panose="020B0609070205080204" pitchFamily="49" charset="-128"/>
                <a:ea typeface="MS Gothic" panose="020B0609070205080204" pitchFamily="49" charset="-128"/>
                <a:hlinkClick r:id="rId2"/>
              </a:rPr>
              <a:t>NOTEBOOK </a:t>
            </a:r>
            <a:r>
              <a:rPr lang="en-US" sz="1800" dirty="0"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</a:p>
          <a:p>
            <a:r>
              <a:rPr lang="en-US" sz="1800" b="1" dirty="0">
                <a:latin typeface="MS Gothic" panose="020B0609070205080204" pitchFamily="49" charset="-128"/>
                <a:ea typeface="MS Gothic" panose="020B0609070205080204" pitchFamily="49" charset="-128"/>
                <a:hlinkClick r:id="rId3"/>
              </a:rPr>
              <a:t>Loom.py</a:t>
            </a:r>
            <a:r>
              <a:rPr lang="en-US" sz="1800" dirty="0">
                <a:latin typeface="MS Gothic" panose="020B0609070205080204" pitchFamily="49" charset="-128"/>
                <a:ea typeface="MS Gothic" panose="020B0609070205080204" pitchFamily="49" charset="-128"/>
              </a:rPr>
              <a:t>                             </a:t>
            </a:r>
          </a:p>
          <a:p>
            <a:r>
              <a:rPr lang="en-US" sz="1800" b="1" dirty="0">
                <a:latin typeface="MS Gothic" panose="020B0609070205080204" pitchFamily="49" charset="-128"/>
                <a:ea typeface="MS Gothic" panose="020B0609070205080204" pitchFamily="49" charset="-128"/>
                <a:hlinkClick r:id="rId4"/>
              </a:rPr>
              <a:t>CARD.py</a:t>
            </a:r>
            <a:endParaRPr lang="en-US" sz="18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endParaRPr lang="en-US" sz="1800" b="1" dirty="0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A28EA-D410-AB9A-2079-77C8A10BE7EC}"/>
              </a:ext>
            </a:extLst>
          </p:cNvPr>
          <p:cNvSpPr txBox="1"/>
          <p:nvPr/>
        </p:nvSpPr>
        <p:spPr>
          <a:xfrm>
            <a:off x="10575236" y="92766"/>
            <a:ext cx="1119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©</a:t>
            </a:r>
            <a:r>
              <a:rPr lang="en-US" sz="1000" b="1" dirty="0"/>
              <a:t>dip2_11_24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3F812E-DDE9-40A9-A0BA-64D56AFBFEB8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4D714C4-5FE2-48FA-A21E-ED0E7AD411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01540B-037D-4E23-AFCA-FDDA3CCE13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409</Words>
  <Application>Microsoft Office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MS Gothic</vt:lpstr>
      <vt:lpstr>Arial</vt:lpstr>
      <vt:lpstr>Avenir Next LT Pro Light</vt:lpstr>
      <vt:lpstr>Calibri</vt:lpstr>
      <vt:lpstr>Posterama</vt:lpstr>
      <vt:lpstr>Custom</vt:lpstr>
      <vt:lpstr>E-COMMERCE Price Optimization</vt:lpstr>
      <vt:lpstr> HOW MUCH IS MORE?</vt:lpstr>
      <vt:lpstr>Agenda </vt:lpstr>
      <vt:lpstr>INTRODUCTION</vt:lpstr>
      <vt:lpstr>EXPLORATORY DATA ANALYSIS</vt:lpstr>
      <vt:lpstr>KEY FINDINGS</vt:lpstr>
      <vt:lpstr>KEY FINDINGS</vt:lpstr>
      <vt:lpstr>MACHINE LEARNING</vt:lpstr>
      <vt:lpstr>Model Insights &amp; Performance</vt:lpstr>
      <vt:lpstr>RECOMMENDATIONS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2023-12-19T17:34:13Z</dcterms:created>
  <dcterms:modified xsi:type="dcterms:W3CDTF">2024-11-24T06:43:19Z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